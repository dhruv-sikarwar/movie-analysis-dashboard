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erriweather SemiBold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erriweatherSemiBold-bold.fntdata"/><Relationship Id="rId21" Type="http://schemas.openxmlformats.org/officeDocument/2006/relationships/font" Target="fonts/MerriweatherSemiBold-regular.fntdata"/><Relationship Id="rId24" Type="http://schemas.openxmlformats.org/officeDocument/2006/relationships/font" Target="fonts/MerriweatherSemiBold-boldItalic.fntdata"/><Relationship Id="rId23" Type="http://schemas.openxmlformats.org/officeDocument/2006/relationships/font" Target="fonts/Merriweath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5768c99c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5768c99c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5768c99ce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5768c99ce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768c99ce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768c99ce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5768c99ce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5768c99ce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5768c99ce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5768c99ce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5768c99ce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5768c99ce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768c99ce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768c99ce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e1dadec3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e1dadec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e1dadec3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e1dadec3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1dadec3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e1dadec3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94575" y="512050"/>
            <a:ext cx="43047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D9D9D9"/>
                </a:solidFill>
                <a:latin typeface="Georgia"/>
                <a:ea typeface="Georgia"/>
                <a:cs typeface="Georgia"/>
                <a:sym typeface="Georgia"/>
              </a:rPr>
              <a:t>Data Analytics Project </a:t>
            </a:r>
            <a:endParaRPr b="1" sz="2800">
              <a:solidFill>
                <a:srgbClr val="D9D9D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D9D9D9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lang="en-GB" sz="1800">
                <a:solidFill>
                  <a:srgbClr val="D9D9D9"/>
                </a:solidFill>
                <a:latin typeface="Georgia"/>
                <a:ea typeface="Georgia"/>
                <a:cs typeface="Georgia"/>
                <a:sym typeface="Georgia"/>
              </a:rPr>
              <a:t>y Dhruv Sikarwar</a:t>
            </a:r>
            <a:endParaRPr sz="1800">
              <a:solidFill>
                <a:srgbClr val="D9D9D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2418075" y="3162100"/>
            <a:ext cx="4120200" cy="84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Analyzing Movie Trends of Ratings &amp; Genres.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Insights of Budget &amp; Box -Office Collection.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D9D9D9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2600">
              <a:solidFill>
                <a:srgbClr val="D9D9D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D9D9D9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1" sz="2600">
              <a:solidFill>
                <a:srgbClr val="D9D9D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Merriweather"/>
              <a:buChar char="●"/>
            </a:pPr>
            <a:r>
              <a:rPr b="1" lang="en-GB" sz="1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</a:t>
            </a:r>
            <a:endParaRPr b="1" sz="15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Merriweather"/>
              <a:buChar char="●"/>
            </a:pPr>
            <a:r>
              <a:rPr b="1" lang="en-GB" sz="1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Goal</a:t>
            </a:r>
            <a:endParaRPr b="1" sz="15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Merriweather"/>
              <a:buChar char="●"/>
            </a:pPr>
            <a:r>
              <a:rPr b="1" lang="en-GB" sz="1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Data</a:t>
            </a:r>
            <a:endParaRPr b="1" sz="15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Merriweather"/>
              <a:buChar char="●"/>
            </a:pPr>
            <a:r>
              <a:rPr b="1" lang="en-GB" sz="1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Insights</a:t>
            </a:r>
            <a:endParaRPr b="1" sz="15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Merriweather"/>
              <a:buChar char="●"/>
            </a:pPr>
            <a:r>
              <a:rPr b="1" lang="en-GB" sz="15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  <a:endParaRPr b="1" sz="15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>
            <a:off x="994075" y="719625"/>
            <a:ext cx="11700" cy="1164900"/>
          </a:xfrm>
          <a:prstGeom prst="straightConnector1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348275" y="385175"/>
            <a:ext cx="3356100" cy="1395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567400" y="615725"/>
            <a:ext cx="0" cy="93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5"/>
          <p:cNvSpPr/>
          <p:nvPr/>
        </p:nvSpPr>
        <p:spPr>
          <a:xfrm>
            <a:off x="2862375" y="2691700"/>
            <a:ext cx="5904600" cy="20757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</a:t>
            </a:r>
            <a:r>
              <a:rPr b="1" lang="en-GB" sz="1600">
                <a:solidFill>
                  <a:srgbClr val="64605C"/>
                </a:solidFill>
                <a:latin typeface="Georgia"/>
                <a:ea typeface="Georgia"/>
                <a:cs typeface="Georgia"/>
                <a:sym typeface="Georgia"/>
              </a:rPr>
              <a:t>Movie Production House </a:t>
            </a: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wants to know which Genre and Director movies have made High Box-Office Collection.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83025" y="293350"/>
            <a:ext cx="87492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GOALS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521275" y="138100"/>
            <a:ext cx="0" cy="93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6"/>
          <p:cNvSpPr txBox="1"/>
          <p:nvPr/>
        </p:nvSpPr>
        <p:spPr>
          <a:xfrm>
            <a:off x="152225" y="1457700"/>
            <a:ext cx="87492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1: </a:t>
            </a:r>
            <a:r>
              <a:rPr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Data Cleaning &amp; Standardization to ensure accurate analysis.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2: </a:t>
            </a:r>
            <a:r>
              <a:rPr lang="en-GB" sz="1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Develop data-driven recommendations for upcoming movie selection.</a:t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35800" y="2737825"/>
            <a:ext cx="8672400" cy="23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Main Question:-</a:t>
            </a:r>
            <a:endParaRPr sz="1300" u="sng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Does higher rating leads to higher Box-Office Collection ?</a:t>
            </a:r>
            <a:endParaRPr sz="1300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Which Genre has collected highest profit</a:t>
            </a:r>
            <a:r>
              <a:rPr lang="en-GB" sz="13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?</a:t>
            </a:r>
            <a:endParaRPr sz="13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Which Director has produced more profitable movies ?</a:t>
            </a:r>
            <a:endParaRPr sz="1300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erriweather SemiBold"/>
              <a:buChar char="●"/>
            </a:pPr>
            <a:r>
              <a:rPr lang="en-GB" sz="1300">
                <a:solidFill>
                  <a:schemeClr val="dk2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Is there a relationship between movie budget and box office collection ?</a:t>
            </a:r>
            <a:endParaRPr sz="1300">
              <a:solidFill>
                <a:schemeClr val="dk2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3736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: Overview</a:t>
            </a:r>
            <a:endParaRPr/>
          </a:p>
        </p:txBody>
      </p:sp>
      <p:cxnSp>
        <p:nvCxnSpPr>
          <p:cNvPr id="93" name="Google Shape;93;p17"/>
          <p:cNvCxnSpPr/>
          <p:nvPr/>
        </p:nvCxnSpPr>
        <p:spPr>
          <a:xfrm>
            <a:off x="311725" y="166925"/>
            <a:ext cx="2100" cy="830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 txBox="1"/>
          <p:nvPr/>
        </p:nvSpPr>
        <p:spPr>
          <a:xfrm>
            <a:off x="0" y="3230100"/>
            <a:ext cx="91440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●"/>
            </a:pPr>
            <a:r>
              <a:rPr b="1" lang="en-GB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Data : </a:t>
            </a:r>
            <a:r>
              <a:rPr lang="en-GB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Movie Production House (2016 - 2020)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●"/>
            </a:pPr>
            <a:r>
              <a:rPr b="1" lang="en-GB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Source :</a:t>
            </a:r>
            <a:r>
              <a:rPr lang="en-GB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Kaggle</a:t>
            </a:r>
            <a:endParaRPr b="1"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●"/>
            </a:pPr>
            <a:r>
              <a:rPr b="1" lang="en-GB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Size : </a:t>
            </a:r>
            <a:r>
              <a:rPr lang="en-GB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5200 rows &amp; 12 columns</a:t>
            </a:r>
            <a:endParaRPr b="1"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●"/>
            </a:pPr>
            <a:r>
              <a:rPr b="1" lang="en-GB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Fields :  </a:t>
            </a:r>
            <a:r>
              <a:rPr lang="en-GB" sz="1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Title,Genre,Release_Date,Budget,Box_Office,Language,Director ,etc.</a:t>
            </a:r>
            <a:endParaRPr sz="1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5900"/>
            <a:ext cx="9144000" cy="19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: Cleaning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2150"/>
            <a:ext cx="4442325" cy="33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 title="Screenshot (78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5475" y="1792150"/>
            <a:ext cx="4590000" cy="335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/>
          <p:nvPr/>
        </p:nvSpPr>
        <p:spPr>
          <a:xfrm>
            <a:off x="913375" y="1342400"/>
            <a:ext cx="2398800" cy="392700"/>
          </a:xfrm>
          <a:prstGeom prst="roundRect">
            <a:avLst>
              <a:gd fmla="val 16667" name="adj"/>
            </a:avLst>
          </a:prstGeom>
          <a:solidFill>
            <a:srgbClr val="3139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Before</a:t>
            </a:r>
            <a:endParaRPr b="1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436600" y="1342400"/>
            <a:ext cx="2398800" cy="392700"/>
          </a:xfrm>
          <a:prstGeom prst="roundRect">
            <a:avLst>
              <a:gd fmla="val 16667" name="adj"/>
            </a:avLst>
          </a:prstGeom>
          <a:solidFill>
            <a:srgbClr val="3139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After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>
            <a:off x="311725" y="397575"/>
            <a:ext cx="2100" cy="830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8"/>
          <p:cNvSpPr/>
          <p:nvPr/>
        </p:nvSpPr>
        <p:spPr>
          <a:xfrm>
            <a:off x="3750375" y="1400050"/>
            <a:ext cx="1326300" cy="25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: Major Changes</a:t>
            </a:r>
            <a:endParaRPr sz="2700"/>
          </a:p>
        </p:txBody>
      </p:sp>
      <p:pic>
        <p:nvPicPr>
          <p:cNvPr id="112" name="Google Shape;112;p19" title="Screenshot (7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6525" y="1411575"/>
            <a:ext cx="1894525" cy="35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186825" y="1411575"/>
            <a:ext cx="6377400" cy="3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★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Standardized the Box_office &amp; Budget by replacing ($,M,comma).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★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Changed Data type of Date column to Date time format for time-based analysis 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★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Removed 200 duplicate rows.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★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Handled missing values by </a:t>
            </a: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assigning</a:t>
            </a: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group by average of respective column or another.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★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Added 4 new columns(Release_Year,ROI,Profit,Profit_Status).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>
            <a:off x="311725" y="397575"/>
            <a:ext cx="2100" cy="830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231000" y="1434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Insights: Genre Term</a:t>
            </a:r>
            <a:endParaRPr sz="2600"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7925"/>
            <a:ext cx="4327001" cy="31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5400" y="1057925"/>
            <a:ext cx="4678600" cy="31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94575" y="4386975"/>
            <a:ext cx="8891700" cy="623700"/>
          </a:xfrm>
          <a:prstGeom prst="roundRect">
            <a:avLst>
              <a:gd fmla="val 16667" name="adj"/>
            </a:avLst>
          </a:prstGeom>
          <a:solidFill>
            <a:srgbClr val="80808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#Insight 1: Action,Thriller &amp; Romance generates good profit while Drama </a:t>
            </a: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spite</a:t>
            </a: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of being good in critics falls behind in generating revenue.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" name="Google Shape;123;p20"/>
          <p:cNvCxnSpPr/>
          <p:nvPr/>
        </p:nvCxnSpPr>
        <p:spPr>
          <a:xfrm>
            <a:off x="2700925" y="121400"/>
            <a:ext cx="0" cy="789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09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Insights : Director Term</a:t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101975" y="2956925"/>
            <a:ext cx="3979500" cy="218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Emily Stone ranks as the most profitable director, generating the highest total profit over period of time.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She has directed 842 movies, primarily in the Action genre, which also shows the highest average profitability among all genres.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21" title="Screenshot (80).png"/>
          <p:cNvPicPr preferRelativeResize="0"/>
          <p:nvPr/>
        </p:nvPicPr>
        <p:blipFill rotWithShape="1">
          <a:blip r:embed="rId3">
            <a:alphaModFix/>
          </a:blip>
          <a:srcRect b="41301" l="47112" r="27122" t="28198"/>
          <a:stretch/>
        </p:blipFill>
        <p:spPr>
          <a:xfrm>
            <a:off x="101975" y="1300575"/>
            <a:ext cx="3979598" cy="15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 title="Screenshot (81).png"/>
          <p:cNvPicPr preferRelativeResize="0"/>
          <p:nvPr/>
        </p:nvPicPr>
        <p:blipFill rotWithShape="1">
          <a:blip r:embed="rId4">
            <a:alphaModFix/>
          </a:blip>
          <a:srcRect b="11351" l="14069" r="39818" t="42932"/>
          <a:stretch/>
        </p:blipFill>
        <p:spPr>
          <a:xfrm>
            <a:off x="4315475" y="1300575"/>
            <a:ext cx="4828526" cy="3842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1"/>
          <p:cNvCxnSpPr/>
          <p:nvPr/>
        </p:nvCxnSpPr>
        <p:spPr>
          <a:xfrm>
            <a:off x="311700" y="285650"/>
            <a:ext cx="0" cy="93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342425"/>
            <a:ext cx="3127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Recommendations: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146325"/>
            <a:ext cx="2827500" cy="3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Studios may consider collaborating more with John Carter, as his consistent output and strong revenue performance indicate high commercial potential.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Allocate strategic budgets to high-performing genres and experienced directors to improve ROI.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9" name="Google Shape;139;p22" title="Screenshot (79).png"/>
          <p:cNvPicPr preferRelativeResize="0"/>
          <p:nvPr/>
        </p:nvPicPr>
        <p:blipFill rotWithShape="1">
          <a:blip r:embed="rId3">
            <a:alphaModFix/>
          </a:blip>
          <a:srcRect b="10971" l="13025" r="17172" t="18839"/>
          <a:stretch/>
        </p:blipFill>
        <p:spPr>
          <a:xfrm>
            <a:off x="3139200" y="0"/>
            <a:ext cx="60048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2"/>
          <p:cNvCxnSpPr/>
          <p:nvPr/>
        </p:nvCxnSpPr>
        <p:spPr>
          <a:xfrm>
            <a:off x="311700" y="115025"/>
            <a:ext cx="0" cy="934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6414375" y="1746025"/>
            <a:ext cx="2121900" cy="1845300"/>
          </a:xfrm>
          <a:prstGeom prst="smileyFace">
            <a:avLst>
              <a:gd fmla="val 4653" name="adj"/>
            </a:avLst>
          </a:prstGeom>
          <a:solidFill>
            <a:schemeClr val="accent2"/>
          </a:solidFill>
          <a:ln cap="flat" cmpd="sng" w="9525">
            <a:solidFill>
              <a:srgbClr val="313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1732200" y="2288050"/>
            <a:ext cx="4359300" cy="16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 sz="2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